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5" r:id="rId4"/>
    <p:sldId id="266" r:id="rId5"/>
    <p:sldId id="267" r:id="rId6"/>
    <p:sldId id="264" r:id="rId7"/>
    <p:sldId id="268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40C2-3E0C-444C-BBB6-92DF6245D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3855E-2FE3-469D-B4A8-9B9387C87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8187-9AEC-4114-A64E-DFE81BB7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4C030-12D3-4471-87FF-373095B8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E9B1A-D380-4152-88A4-C6A1227B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1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558D-7267-47D3-89BE-13F0FDB8D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70AC-096C-47A7-9FA9-A42557F7C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B4E50-0C8F-4873-B55A-AA8A6D4A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61B9A-CE81-4E70-823F-6AFE680D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C0816-C9E2-4DA3-A37D-911C8C32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5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ABBB-FA1C-461B-B290-615A5BBB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70A07-DDC8-42F6-AC02-BADC1F476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68C2-BF09-4D5C-9F72-1AD23FE01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57424-9CEE-4FF1-8E81-AC552A62B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6393F-BF1E-44DB-8DB0-352B2D50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8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AE35-7204-4221-9B0C-D20A273C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0EABA-AD33-4B86-8FB7-C16A5DB12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14524-660F-4351-A22D-7B57024C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7DB12-D6FF-4B2C-94A6-EF8F094A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23980-1A46-40B6-9606-FB31F569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0474A-C6B1-412C-83A3-2A8AE151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3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CA2-228B-4F81-B48E-E1DA6A6B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93297-7CB4-49C1-984E-9E83A97AC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E1548-1294-457B-A17B-68AABB16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14794-EFC8-42CB-9335-51EAE0CD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91834-74BD-4076-A926-BC135AA6D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A90D5-D5F9-4D7B-BE4D-A654C94B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928CE-110E-4F1D-97DA-42BF50F5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7DF661-F2BD-4F72-BCF2-E31ED033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0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EF1F-21B1-434A-AC43-928CDF69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16BCC-DEA2-487C-910D-2E4E991A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F3D1A-3840-4DD6-B498-08BFF027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491A4-35D5-467C-A1DD-0ABC5B89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83396-00CA-4E5F-AF7D-FDF4CD61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0CF0E-EF69-41AE-BFCB-9C84B50D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1F53B-6D00-4B94-9F57-A0ECFDB2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8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3689-CC0E-44B8-88C7-5ECCF20F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ED721-6EDF-4CC8-BB3D-D6E4BA2F8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E3489-3A6D-4B7A-AF1C-21BAA7231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B40C0-8305-42A4-986D-1B15DCC5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9EF31-30C7-4373-8200-A4AAB066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5ED8F-2A2B-4D87-960F-246F0232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3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A1DB-D065-40D0-8A21-F508C565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BAAFC-097C-4CFF-8C20-E63782855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83035-BEE5-492B-9675-525C2A687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B7038-CC80-4664-97A6-256D8FDC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019F3-4106-4948-ABF8-D3E59F1E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D455A-8254-426C-837A-74D1BB2C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7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A5ED-B671-426B-96CF-BC3E25D4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DB958-1297-43D5-BBD7-22395919C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9AF0-7107-4AB9-9605-10583BF3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30D4-21CB-4D88-9A79-86383046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B397-8D81-446F-8B7F-711CC69A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9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44881-123B-47A5-86CF-5BE40DA25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3BA78-AAAA-46FC-9B3C-847E9FCDA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4671C-B09C-47BD-9868-FD1CBF1B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93D12-19CC-48D4-92D3-B95520AC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3C6D7-7FE4-48CA-ABF4-5BEC7926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2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D0502-0A8D-44E1-AF5E-EC48BD49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BE691-6B4C-4CF1-A260-4F3BA197B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19B2-65A2-400A-8E71-F04E1A59C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12F57-9FD7-4474-ABB9-C96A06641983}" type="datetimeFigureOut">
              <a:rPr lang="en-US" smtClean="0"/>
              <a:t>11-Jan-25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F37A-15E1-40A8-87CA-C5F3A7BE3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6815B-4021-44F2-A27D-69F8685D7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7DFB6-B559-4D09-B4E9-2E434EB80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7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1175657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4" y="280487"/>
            <a:ext cx="1485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7EF17-68C8-4B2D-A1BB-0F672CA5CB8C}"/>
              </a:ext>
            </a:extLst>
          </p:cNvPr>
          <p:cNvSpPr txBox="1"/>
          <p:nvPr/>
        </p:nvSpPr>
        <p:spPr>
          <a:xfrm>
            <a:off x="2702859" y="1321340"/>
            <a:ext cx="678628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No: 09</a:t>
            </a:r>
            <a:endParaRPr lang="en-US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pPr algn="ctr"/>
            <a:r>
              <a:rPr lang="en-US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Door Entry System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ProtoChemists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504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1175657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4" y="280487"/>
            <a:ext cx="1485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4F903-B210-4072-A261-84BD2FC71C12}"/>
              </a:ext>
            </a:extLst>
          </p:cNvPr>
          <p:cNvSpPr txBox="1"/>
          <p:nvPr/>
        </p:nvSpPr>
        <p:spPr>
          <a:xfrm>
            <a:off x="4154556" y="1198099"/>
            <a:ext cx="38828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Sanjidur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 Nobel</a:t>
            </a:r>
          </a:p>
          <a:p>
            <a:pPr algn="ctr" rt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Roll: 231</a:t>
            </a:r>
          </a:p>
          <a:p>
            <a:pPr algn="ctr" rt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Musa</a:t>
            </a:r>
          </a:p>
          <a:p>
            <a:pPr algn="ctr" rt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Roll: 225</a:t>
            </a:r>
          </a:p>
          <a:p>
            <a:pPr algn="ctr" rtl="1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Session: 2020-2021</a:t>
            </a:r>
          </a:p>
          <a:p>
            <a:pPr algn="ctr"/>
            <a:r>
              <a:rPr lang="en-US" dirty="0"/>
              <a:t>Department of Chemistry</a:t>
            </a:r>
          </a:p>
          <a:p>
            <a:pPr algn="ctr"/>
            <a:r>
              <a:rPr lang="en-US" dirty="0"/>
              <a:t>Jahangirnagar University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859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1" y="295275"/>
            <a:ext cx="1855304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3" y="280487"/>
            <a:ext cx="1656109" cy="595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Abstract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17D35-1F20-436C-A173-25C5D42EA64F}"/>
              </a:ext>
            </a:extLst>
          </p:cNvPr>
          <p:cNvSpPr txBox="1"/>
          <p:nvPr/>
        </p:nvSpPr>
        <p:spPr>
          <a:xfrm>
            <a:off x="2319130" y="1921563"/>
            <a:ext cx="7513983" cy="284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Abstract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Smart Door Entry System is designed to provide a touchless, automatic entry solution for single-panel wooden doors. Using a combination of sensors and a microcontroller, the system detects when a person is near the door and automatically opens it. When no one is detected, the door closes itself. This project aims to enhance user convenience and ensure a hands-free experience, making it particularly suitable for homes, offices, and healthcare facilities.</a:t>
            </a:r>
          </a:p>
        </p:txBody>
      </p:sp>
    </p:spTree>
    <p:extLst>
      <p:ext uri="{BB962C8B-B14F-4D97-AF65-F5344CB8AC3E}">
        <p14:creationId xmlns:p14="http://schemas.microsoft.com/office/powerpoint/2010/main" val="2324177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1485900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4" y="280487"/>
            <a:ext cx="1419226" cy="595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Theory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613C9-F243-4C7F-92C2-D52F20736697}"/>
              </a:ext>
            </a:extLst>
          </p:cNvPr>
          <p:cNvSpPr txBox="1"/>
          <p:nvPr/>
        </p:nvSpPr>
        <p:spPr>
          <a:xfrm>
            <a:off x="2657474" y="1866518"/>
            <a:ext cx="6910595" cy="261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Theory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Smart Door Entry System is based on sensor technology and microcontroller programming. It primarily uses a Passive Infrared (PIR) sensor to detect the presence of a person near the door. When the PIR sensor detects motion, it sends a signal to the microcontroller (Arduino), which then activates a servo motor to open the door. If no motion is detected for a specified time, the microcontroller sends a signal to close the door.</a:t>
            </a:r>
          </a:p>
        </p:txBody>
      </p:sp>
    </p:spTree>
    <p:extLst>
      <p:ext uri="{BB962C8B-B14F-4D97-AF65-F5344CB8AC3E}">
        <p14:creationId xmlns:p14="http://schemas.microsoft.com/office/powerpoint/2010/main" val="1052618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2232577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110572" y="125356"/>
            <a:ext cx="2122005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Objectives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358A8-12CF-45E2-A3CC-E5B1AB4F6888}"/>
              </a:ext>
            </a:extLst>
          </p:cNvPr>
          <p:cNvSpPr txBox="1"/>
          <p:nvPr/>
        </p:nvSpPr>
        <p:spPr>
          <a:xfrm>
            <a:off x="2896635" y="1937135"/>
            <a:ext cx="6619046" cy="277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Objectives: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main objectives of this project are: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develop a hands-free, automatic door entry system.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enhance accessibility and convenience for users.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reduce physical contact with surfaces, enhancing hygiene in public and private spaces.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25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2" y="295275"/>
            <a:ext cx="2239616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0" y="166340"/>
            <a:ext cx="2385391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Features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37C00-10FA-47EC-A05F-258A1D284B69}"/>
              </a:ext>
            </a:extLst>
          </p:cNvPr>
          <p:cNvSpPr txBox="1"/>
          <p:nvPr/>
        </p:nvSpPr>
        <p:spPr>
          <a:xfrm>
            <a:off x="2720010" y="1784599"/>
            <a:ext cx="7232374" cy="318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Features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Automatic Opening and Closing: The system automatically opens the door when someone approaches and closes it when no one is present.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Touchless Operation: Reduces the need for physical contact, making it suitable for public spaces.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 Power Consumption: The system is designed to be energy efficient.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User-Friendly Interface: Simple installation and easy-to-use.</a:t>
            </a:r>
          </a:p>
        </p:txBody>
      </p:sp>
    </p:spTree>
    <p:extLst>
      <p:ext uri="{BB962C8B-B14F-4D97-AF65-F5344CB8AC3E}">
        <p14:creationId xmlns:p14="http://schemas.microsoft.com/office/powerpoint/2010/main" val="881788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2120348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1" y="295275"/>
            <a:ext cx="2357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EE9111-EE82-48D7-A968-4A83670DE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94872"/>
              </p:ext>
            </p:extLst>
          </p:nvPr>
        </p:nvGraphicFramePr>
        <p:xfrm>
          <a:off x="2288984" y="1960159"/>
          <a:ext cx="7212825" cy="328770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138780">
                  <a:extLst>
                    <a:ext uri="{9D8B030D-6E8A-4147-A177-3AD203B41FA5}">
                      <a16:colId xmlns:a16="http://schemas.microsoft.com/office/drawing/2014/main" val="2883456348"/>
                    </a:ext>
                  </a:extLst>
                </a:gridCol>
                <a:gridCol w="3155917">
                  <a:extLst>
                    <a:ext uri="{9D8B030D-6E8A-4147-A177-3AD203B41FA5}">
                      <a16:colId xmlns:a16="http://schemas.microsoft.com/office/drawing/2014/main" val="3735500864"/>
                    </a:ext>
                  </a:extLst>
                </a:gridCol>
                <a:gridCol w="1314815">
                  <a:extLst>
                    <a:ext uri="{9D8B030D-6E8A-4147-A177-3AD203B41FA5}">
                      <a16:colId xmlns:a16="http://schemas.microsoft.com/office/drawing/2014/main" val="3260862805"/>
                    </a:ext>
                  </a:extLst>
                </a:gridCol>
                <a:gridCol w="1603313">
                  <a:extLst>
                    <a:ext uri="{9D8B030D-6E8A-4147-A177-3AD203B41FA5}">
                      <a16:colId xmlns:a16="http://schemas.microsoft.com/office/drawing/2014/main" val="2847528066"/>
                    </a:ext>
                  </a:extLst>
                </a:gridCol>
              </a:tblGrid>
              <a:tr h="5302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Serial No.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Components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Quantity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Price (Tk)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818698"/>
                  </a:ext>
                </a:extLst>
              </a:tr>
              <a:tr h="5302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PIR Sensor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7505305"/>
                  </a:ext>
                </a:extLst>
              </a:tr>
              <a:tr h="5302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Servo Motor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4325669"/>
                  </a:ext>
                </a:extLst>
              </a:tr>
              <a:tr h="5302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Arduino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949923"/>
                  </a:ext>
                </a:extLst>
              </a:tr>
              <a:tr h="6365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Miscellaneous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(wire connections)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0159102"/>
                  </a:ext>
                </a:extLst>
              </a:tr>
              <a:tr h="530224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Total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1800</a:t>
                      </a:r>
                      <a:endParaRPr 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4022680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B034B79-DB55-4A9E-B5B2-1B6F5CC53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984" y="1960159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8F07F-8641-45E1-A4B8-43EC9EE66A60}"/>
              </a:ext>
            </a:extLst>
          </p:cNvPr>
          <p:cNvSpPr txBox="1"/>
          <p:nvPr/>
        </p:nvSpPr>
        <p:spPr>
          <a:xfrm>
            <a:off x="2209472" y="1406928"/>
            <a:ext cx="64471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Components and Costs: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520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3842717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4" y="280487"/>
            <a:ext cx="3842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Working Mechanism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53742-59E7-488E-B2CD-ADD835EA82A3}"/>
              </a:ext>
            </a:extLst>
          </p:cNvPr>
          <p:cNvSpPr txBox="1"/>
          <p:nvPr/>
        </p:nvSpPr>
        <p:spPr>
          <a:xfrm>
            <a:off x="1242330" y="1299971"/>
            <a:ext cx="10220799" cy="399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working mechanism of the Smart Door Entry System involves several steps: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Detection: The PIR sensor monitors the area in front of the door. When it detects motion (e.g., a person approaching), it sends a signal to the Arduino microcontroller.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Signal Processing: The Arduino receives the signal and processes it to determine whether to open or close the door.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Door Operation: If a person is detected, the Arduino sends a command to the servo motor to open the door. After a set period, if no presence is detected, it sends another command to close the door.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Reset and Idle State: The system returns to its idle state, ready to detect the next entry.</a:t>
            </a:r>
          </a:p>
        </p:txBody>
      </p:sp>
    </p:spTree>
    <p:extLst>
      <p:ext uri="{BB962C8B-B14F-4D97-AF65-F5344CB8AC3E}">
        <p14:creationId xmlns:p14="http://schemas.microsoft.com/office/powerpoint/2010/main" val="4183573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2199861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3" y="280486"/>
            <a:ext cx="2199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Applications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415F42-9BFA-454A-8ECD-F3D1E37AFE4D}"/>
              </a:ext>
            </a:extLst>
          </p:cNvPr>
          <p:cNvSpPr txBox="1"/>
          <p:nvPr/>
        </p:nvSpPr>
        <p:spPr>
          <a:xfrm>
            <a:off x="2423698" y="1144528"/>
            <a:ext cx="7344603" cy="4568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US" sz="3600" b="1" dirty="0"/>
              <a:t>Applications: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Smart Door Entry System can be used in various settings: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Residential Homes: For automatic main doors or interior doors.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Offices: For meeting rooms and office entry points.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Healthcare Facilities: To minimize contact with surfaces and improve hygiene.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Retail Stores: For customer entry points to ensure a smooth experience.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54676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ABDCA-DAB6-4824-B3A1-278025E874B5}"/>
              </a:ext>
            </a:extLst>
          </p:cNvPr>
          <p:cNvSpPr/>
          <p:nvPr/>
        </p:nvSpPr>
        <p:spPr>
          <a:xfrm>
            <a:off x="0" y="295275"/>
            <a:ext cx="2199861" cy="5847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FCEF2-602A-4D5F-A5F2-17E365213F1C}"/>
              </a:ext>
            </a:extLst>
          </p:cNvPr>
          <p:cNvSpPr txBox="1"/>
          <p:nvPr/>
        </p:nvSpPr>
        <p:spPr>
          <a:xfrm>
            <a:off x="66673" y="280486"/>
            <a:ext cx="2199861" cy="53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 Users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608EC-F6CF-4689-9E56-358101B8F948}"/>
              </a:ext>
            </a:extLst>
          </p:cNvPr>
          <p:cNvSpPr txBox="1"/>
          <p:nvPr/>
        </p:nvSpPr>
        <p:spPr>
          <a:xfrm>
            <a:off x="2657475" y="1508710"/>
            <a:ext cx="7298635" cy="355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 Users: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Homeowners looking for smart automation solutions.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Office managers seeking to enhance convenience and security.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Healthcare facility administrators focusing on hygiene and touchless solutions.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Retail store owners aiming to improve customer entry experience.</a:t>
            </a:r>
          </a:p>
        </p:txBody>
      </p:sp>
    </p:spTree>
    <p:extLst>
      <p:ext uri="{BB962C8B-B14F-4D97-AF65-F5344CB8AC3E}">
        <p14:creationId xmlns:p14="http://schemas.microsoft.com/office/powerpoint/2010/main" val="3958554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17" grpId="0"/>
      <p:bldP spid="24" grpId="0"/>
      <p:bldP spid="25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14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9E1BBB4-6058-499E-8BC4-C3A6FB103205}"/>
              </a:ext>
            </a:extLst>
          </p:cNvPr>
          <p:cNvSpPr/>
          <p:nvPr/>
        </p:nvSpPr>
        <p:spPr>
          <a:xfrm>
            <a:off x="11201401" y="-333375"/>
            <a:ext cx="1257299" cy="1076325"/>
          </a:xfrm>
          <a:prstGeom prst="flowChartConnector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5D3B3F-74CD-45C2-B7A4-EB074B210338}"/>
              </a:ext>
            </a:extLst>
          </p:cNvPr>
          <p:cNvSpPr/>
          <p:nvPr/>
        </p:nvSpPr>
        <p:spPr>
          <a:xfrm>
            <a:off x="-314324" y="5895975"/>
            <a:ext cx="2971799" cy="1238250"/>
          </a:xfrm>
          <a:custGeom>
            <a:avLst/>
            <a:gdLst>
              <a:gd name="connsiteX0" fmla="*/ 628650 w 2971799"/>
              <a:gd name="connsiteY0" fmla="*/ 0 h 1238250"/>
              <a:gd name="connsiteX1" fmla="*/ 1244528 w 2971799"/>
              <a:gd name="connsiteY1" fmla="*/ 494350 h 1238250"/>
              <a:gd name="connsiteX2" fmla="*/ 1250475 w 2971799"/>
              <a:gd name="connsiteY2" fmla="*/ 552450 h 1238250"/>
              <a:gd name="connsiteX3" fmla="*/ 2971799 w 2971799"/>
              <a:gd name="connsiteY3" fmla="*/ 552450 h 1238250"/>
              <a:gd name="connsiteX4" fmla="*/ 2971799 w 2971799"/>
              <a:gd name="connsiteY4" fmla="*/ 914400 h 1238250"/>
              <a:gd name="connsiteX5" fmla="*/ 1177980 w 2971799"/>
              <a:gd name="connsiteY5" fmla="*/ 914400 h 1238250"/>
              <a:gd name="connsiteX6" fmla="*/ 1149937 w 2971799"/>
              <a:gd name="connsiteY6" fmla="*/ 965284 h 1238250"/>
              <a:gd name="connsiteX7" fmla="*/ 628650 w 2971799"/>
              <a:gd name="connsiteY7" fmla="*/ 1238250 h 1238250"/>
              <a:gd name="connsiteX8" fmla="*/ 0 w 2971799"/>
              <a:gd name="connsiteY8" fmla="*/ 619125 h 1238250"/>
              <a:gd name="connsiteX9" fmla="*/ 628650 w 2971799"/>
              <a:gd name="connsiteY9" fmla="*/ 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1799" h="1238250">
                <a:moveTo>
                  <a:pt x="628650" y="0"/>
                </a:moveTo>
                <a:cubicBezTo>
                  <a:pt x="932445" y="0"/>
                  <a:pt x="1185909" y="212225"/>
                  <a:pt x="1244528" y="494350"/>
                </a:cubicBezTo>
                <a:lnTo>
                  <a:pt x="1250475" y="552450"/>
                </a:lnTo>
                <a:lnTo>
                  <a:pt x="2971799" y="552450"/>
                </a:lnTo>
                <a:lnTo>
                  <a:pt x="2971799" y="914400"/>
                </a:lnTo>
                <a:lnTo>
                  <a:pt x="1177980" y="914400"/>
                </a:lnTo>
                <a:lnTo>
                  <a:pt x="1149937" y="965284"/>
                </a:lnTo>
                <a:cubicBezTo>
                  <a:pt x="1036964" y="1129972"/>
                  <a:pt x="845646" y="1238250"/>
                  <a:pt x="628650" y="1238250"/>
                </a:cubicBezTo>
                <a:cubicBezTo>
                  <a:pt x="281456" y="1238250"/>
                  <a:pt x="0" y="961058"/>
                  <a:pt x="0" y="619125"/>
                </a:cubicBezTo>
                <a:cubicBezTo>
                  <a:pt x="0" y="277192"/>
                  <a:pt x="281456" y="0"/>
                  <a:pt x="628650" y="0"/>
                </a:cubicBezTo>
                <a:close/>
              </a:path>
            </a:pathLst>
          </a:cu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A8BEC9-3783-4614-B695-6CBEC611AA42}"/>
              </a:ext>
            </a:extLst>
          </p:cNvPr>
          <p:cNvSpPr txBox="1"/>
          <p:nvPr/>
        </p:nvSpPr>
        <p:spPr>
          <a:xfrm>
            <a:off x="848139" y="6464588"/>
            <a:ext cx="204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Door Entry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48E82-44E5-441F-A87E-56E071A12DA3}"/>
              </a:ext>
            </a:extLst>
          </p:cNvPr>
          <p:cNvSpPr txBox="1"/>
          <p:nvPr/>
        </p:nvSpPr>
        <p:spPr>
          <a:xfrm>
            <a:off x="11068050" y="5089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lgerian" panose="04020705040A02060702" pitchFamily="82" charset="0"/>
              </a:rPr>
              <a:t>Proto</a:t>
            </a:r>
          </a:p>
          <a:p>
            <a:pPr algn="ctr"/>
            <a:r>
              <a:rPr lang="en-US" sz="1100" dirty="0">
                <a:latin typeface="Algerian" panose="04020705040A02060702" pitchFamily="82" charset="0"/>
              </a:rPr>
              <a:t>Chemists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63862D-2EBF-4CD2-8572-F12380B4D58E}"/>
              </a:ext>
            </a:extLst>
          </p:cNvPr>
          <p:cNvSpPr txBox="1"/>
          <p:nvPr/>
        </p:nvSpPr>
        <p:spPr>
          <a:xfrm>
            <a:off x="3786808" y="2625372"/>
            <a:ext cx="4618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7333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24" grpId="0"/>
      <p:bldP spid="25" grpId="0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654</Words>
  <Application>Microsoft Office PowerPoint</Application>
  <PresentationFormat>Widescreen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</vt:lpstr>
      <vt:lpstr>Arial Black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zahidul909192@gmail.com</dc:creator>
  <cp:lastModifiedBy>hp</cp:lastModifiedBy>
  <cp:revision>30</cp:revision>
  <dcterms:created xsi:type="dcterms:W3CDTF">2023-07-18T17:35:16Z</dcterms:created>
  <dcterms:modified xsi:type="dcterms:W3CDTF">2025-01-11T07:10:46Z</dcterms:modified>
</cp:coreProperties>
</file>